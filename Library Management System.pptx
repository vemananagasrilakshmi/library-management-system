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2" r:id="rId5"/>
    <p:sldId id="260" r:id="rId6"/>
    <p:sldId id="261" r:id="rId7"/>
    <p:sldId id="275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6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200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kadali-sushma-sri-a6517a2b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ushmasri2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639909" y="3500816"/>
            <a:ext cx="7246189" cy="98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br>
              <a:rPr lang="en-IN" sz="1800" b="1" i="0" u="none" strike="noStrike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Library Management System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70" y="1299210"/>
            <a:ext cx="11121898" cy="585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048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charset="0"/>
              <a:buChar char="Ø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Background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    </a:t>
            </a:r>
            <a:r>
              <a:rPr lang="en-IN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B.Tech</a:t>
            </a: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in Artificial Intelligence and Machine Learning.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Why you want to learn Data Science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Data Science skills like Python, SQL, and Machine Learning can open up diverse roles from analytics to AI. Organizations increasingly rely on data; I want to be part of that transformation.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048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charset="0"/>
              <a:buChar char="Ø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Share your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LinkedIn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and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GitHub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profile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URLs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    </a:t>
            </a:r>
            <a:r>
              <a:rPr lang="en-IN" sz="2400" i="0" u="none" strike="noStrike" cap="none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LinkedIn: </a:t>
            </a:r>
            <a:r>
              <a:rPr lang="en-IN" sz="24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  <a:hlinkClick r:id="rId3"/>
              </a:rPr>
              <a:t>www.linkedin.com/in/kadali-sushma-sri-a6517a2b1</a:t>
            </a:r>
            <a:endParaRPr lang="en-IN" sz="2400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i="0" u="none" strike="noStrike" cap="none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    </a:t>
            </a:r>
            <a:r>
              <a:rPr lang="en-IN" sz="2400" i="0" u="none" strike="noStrike" cap="none" dirty="0" err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Gith</a:t>
            </a:r>
            <a:r>
              <a:rPr lang="en-IN" sz="2400" dirty="0" err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ub</a:t>
            </a:r>
            <a:r>
              <a:rPr lang="en-IN" sz="24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: </a:t>
            </a:r>
            <a:r>
              <a:rPr lang="en-IN" sz="24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  <a:hlinkClick r:id="rId4"/>
              </a:rPr>
              <a:t>https://github.com/Sushmasri23</a:t>
            </a:r>
            <a:endParaRPr lang="en-IN" sz="2400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lvl="0">
              <a:buClr>
                <a:schemeClr val="dk1"/>
              </a:buClr>
              <a:buSzPts val="2400"/>
            </a:pPr>
            <a:endParaRPr sz="2400" b="1" i="0" u="none" strike="noStrike" cap="none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355" y="416560"/>
            <a:ext cx="11002010" cy="631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802020204030203"/>
              <a:buNone/>
            </a:pPr>
            <a:r>
              <a:rPr lang="en-IN" sz="4400" b="1" i="0" u="none" strike="noStrike" cap="none" dirty="0">
                <a:solidFill>
                  <a:srgbClr val="FF0000"/>
                </a:solidFill>
                <a:latin typeface="Times New Roman" panose="02020603050405020304" charset="0"/>
                <a:ea typeface="Lato Black" panose="020F0802020204030203"/>
                <a:cs typeface="Times New Roman" panose="02020603050405020304" charset="0"/>
                <a:sym typeface="Lato Black" panose="020F0802020204030203"/>
              </a:rPr>
              <a:t>About </a:t>
            </a:r>
            <a:r>
              <a:rPr lang="en-IN" sz="4400" b="1" dirty="0">
                <a:solidFill>
                  <a:srgbClr val="FF0000"/>
                </a:solidFill>
                <a:latin typeface="Times New Roman" panose="02020603050405020304" charset="0"/>
                <a:ea typeface="Lato Black" panose="020F0802020204030203"/>
                <a:cs typeface="Times New Roman" panose="02020603050405020304" charset="0"/>
                <a:sym typeface="Lato Black" panose="020F0802020204030203"/>
              </a:rPr>
              <a:t>M</a:t>
            </a:r>
            <a:r>
              <a:rPr lang="en-IN" sz="4400" b="1" i="0" u="none" strike="noStrike" cap="none" dirty="0">
                <a:solidFill>
                  <a:srgbClr val="FF0000"/>
                </a:solidFill>
                <a:latin typeface="Times New Roman" panose="02020603050405020304" charset="0"/>
                <a:ea typeface="Lato Black" panose="020F0802020204030203"/>
                <a:cs typeface="Times New Roman" panose="02020603050405020304" charset="0"/>
                <a:sym typeface="Lato Black" panose="020F0802020204030203"/>
              </a:rPr>
              <a:t>e</a:t>
            </a:r>
            <a:endParaRPr sz="4400" b="1" i="0" u="none" strike="noStrike" cap="none" dirty="0">
              <a:solidFill>
                <a:srgbClr val="FF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79617" y="1668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Agenda   </a:t>
            </a:r>
            <a:endParaRPr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31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Ø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Objective of the Project.</a:t>
            </a: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31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Ø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ER Diagram and schema explanation.</a:t>
            </a: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31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Ø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Key analysis questions.</a:t>
            </a: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31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Ø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SQL query results.</a:t>
            </a:r>
          </a:p>
          <a:p>
            <a:pPr lvl="0" indent="-431800">
              <a:lnSpc>
                <a:spcPct val="150000"/>
              </a:lnSpc>
              <a:buSzPts val="2400"/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&amp;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Ø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Conclusion.</a:t>
            </a:r>
          </a:p>
          <a:p>
            <a:pPr lvl="0" indent="-431800">
              <a:lnSpc>
                <a:spcPct val="150000"/>
              </a:lnSpc>
              <a:buSzPts val="2400"/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and Challenges.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035" y="33274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 of the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795" y="1511935"/>
            <a:ext cx="11221720" cy="466534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Maintains accurate and structured records of books, borrowers, authors, publishers, and library branches.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Tracks book availability and copies across different branches.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Manages borrowing transactions, including issue date, due date, and return status.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Provides easy retrieval of information for both users and staff.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Improves the efficiency of library operations by minimizing manual work and reducing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325" y="0"/>
            <a:ext cx="10466070" cy="13258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ER Diagram</a:t>
            </a:r>
          </a:p>
        </p:txBody>
      </p:sp>
      <p:pic>
        <p:nvPicPr>
          <p:cNvPr id="8" name="Picture 7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48553DFA-B810-74FF-8C4E-82FEDCA99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" y="1179576"/>
            <a:ext cx="9171432" cy="4992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237"/>
            <a:ext cx="10515600" cy="1325563"/>
          </a:xfrm>
        </p:spPr>
        <p:txBody>
          <a:bodyPr/>
          <a:lstStyle/>
          <a:p>
            <a:pPr algn="ctr"/>
            <a:r>
              <a:rPr lang="en-US" altLang="en-I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chema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Explanation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440" y="1218057"/>
            <a:ext cx="11247120" cy="4798695"/>
          </a:xfrm>
        </p:spPr>
        <p:txBody>
          <a:bodyPr>
            <a:no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publisher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Stores publisher details. One publisher can publish many books.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book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Stores book details. Linked to publisher, authors, copies, and loans.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book authors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Stores authors of books. One book can have many authors.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library branch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Stores branch details. One branch can have many books and loans.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book copies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Tracks copies of books in branches. Connects books and branches.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borrower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Stores borrower details. One borrower can borrow many books.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book loans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Records issue and return of books. Connects book, branch, and borrower.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94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Analysis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552" y="1253331"/>
            <a:ext cx="10216896" cy="4351338"/>
          </a:xfrm>
        </p:spPr>
        <p:txBody>
          <a:bodyPr>
            <a:normAutofit fontScale="82500" lnSpcReduction="20000"/>
          </a:bodyPr>
          <a:lstStyle/>
          <a:p>
            <a:pPr algn="just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How many copies of the book titled "The Lost Tribe" are owned by the library branch whose name is "Sharpstown"?</a:t>
            </a:r>
          </a:p>
          <a:p>
            <a:pPr algn="just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How many copies of the book titled "The Lost Tribe" are owned by each library branch?</a:t>
            </a:r>
          </a:p>
          <a:p>
            <a:pPr algn="just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Retrieve the names of all borrowers who do not have any books checked out.</a:t>
            </a:r>
          </a:p>
          <a:p>
            <a:pPr algn="just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For each book that is loaned out from the "Sharpstown" branch and whose </a:t>
            </a:r>
            <a:r>
              <a:rPr lang="en-US" altLang="en-US" sz="2400" dirty="0" err="1">
                <a:latin typeface="Times New Roman" panose="02020603050405020304" charset="0"/>
                <a:cs typeface="Times New Roman" panose="02020603050405020304" charset="0"/>
              </a:rPr>
              <a:t>DueDate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is 2/3/18,retrieve the book title, the borrower's name, and the borrower's address.</a:t>
            </a:r>
          </a:p>
          <a:p>
            <a:pPr algn="just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For each library branch, retrieve the branch name and the total number of books loaned out from that branch.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5900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SQL Query 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2652" b="7266"/>
          <a:stretch>
            <a:fillRect/>
          </a:stretch>
        </p:blipFill>
        <p:spPr>
          <a:xfrm>
            <a:off x="1120648" y="1979693"/>
            <a:ext cx="9804400" cy="39061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A4FBE-55DC-4696-5A59-D345355C8876}"/>
              </a:ext>
            </a:extLst>
          </p:cNvPr>
          <p:cNvSpPr txBox="1"/>
          <p:nvPr/>
        </p:nvSpPr>
        <p:spPr>
          <a:xfrm>
            <a:off x="472440" y="972112"/>
            <a:ext cx="10811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How many copies of the book titled "The Lost Tribe" are owned by the library branch whose name is "Sharpstown"?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539" t="3018" r="1857" b="7385"/>
          <a:stretch>
            <a:fillRect/>
          </a:stretch>
        </p:blipFill>
        <p:spPr>
          <a:xfrm>
            <a:off x="779018" y="1517905"/>
            <a:ext cx="10441305" cy="4343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A3FCE7-A20A-9895-175F-A210AB5C5792}"/>
              </a:ext>
            </a:extLst>
          </p:cNvPr>
          <p:cNvSpPr txBox="1"/>
          <p:nvPr/>
        </p:nvSpPr>
        <p:spPr>
          <a:xfrm>
            <a:off x="421894" y="430875"/>
            <a:ext cx="10944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How many copies of the book titled "The Lost Tribe" are owned by each library branch?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8722"/>
          <a:stretch>
            <a:fillRect/>
          </a:stretch>
        </p:blipFill>
        <p:spPr>
          <a:xfrm>
            <a:off x="623570" y="1508760"/>
            <a:ext cx="10731500" cy="47853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70EB0E-F643-6E08-627F-DCB7A8996A52}"/>
              </a:ext>
            </a:extLst>
          </p:cNvPr>
          <p:cNvSpPr txBox="1"/>
          <p:nvPr/>
        </p:nvSpPr>
        <p:spPr>
          <a:xfrm>
            <a:off x="493776" y="563880"/>
            <a:ext cx="11539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Retrieve the names of all borrowers who do not have any books checked out.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741" t="2063"/>
          <a:stretch>
            <a:fillRect/>
          </a:stretch>
        </p:blipFill>
        <p:spPr>
          <a:xfrm>
            <a:off x="839470" y="1481328"/>
            <a:ext cx="10376535" cy="4796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0ED7CF-3F72-D941-B7CB-6FA3CBE1765B}"/>
              </a:ext>
            </a:extLst>
          </p:cNvPr>
          <p:cNvSpPr txBox="1"/>
          <p:nvPr/>
        </p:nvSpPr>
        <p:spPr>
          <a:xfrm>
            <a:off x="265176" y="466344"/>
            <a:ext cx="11393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For each book that is loaned out from the "Sharpstown" branch and whose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DueDate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2/3/18, retrieve the book title, the borrower's name, and the borrower's address.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8387"/>
          <a:stretch>
            <a:fillRect/>
          </a:stretch>
        </p:blipFill>
        <p:spPr>
          <a:xfrm>
            <a:off x="916940" y="1490472"/>
            <a:ext cx="10173335" cy="43261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E72666-1A50-9BA7-EEA5-B7F0E36D6A60}"/>
              </a:ext>
            </a:extLst>
          </p:cNvPr>
          <p:cNvSpPr txBox="1"/>
          <p:nvPr/>
        </p:nvSpPr>
        <p:spPr>
          <a:xfrm>
            <a:off x="365760" y="539496"/>
            <a:ext cx="11036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For each library branch, retrieve the branch name and the total number of books loaned out from that branch.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572768"/>
            <a:ext cx="10684510" cy="42508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B4DD67-8132-CB05-7321-2330383390AE}"/>
              </a:ext>
            </a:extLst>
          </p:cNvPr>
          <p:cNvSpPr txBox="1"/>
          <p:nvPr/>
        </p:nvSpPr>
        <p:spPr>
          <a:xfrm>
            <a:off x="695960" y="500070"/>
            <a:ext cx="10424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Retrieve the names, addresses, and number of books checked out for all borrowers who have more than five books checked out.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6290" r="2978"/>
          <a:stretch>
            <a:fillRect/>
          </a:stretch>
        </p:blipFill>
        <p:spPr>
          <a:xfrm>
            <a:off x="976249" y="1435608"/>
            <a:ext cx="10078720" cy="4343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426BBE-A678-E888-8048-9DF7D5BE4141}"/>
              </a:ext>
            </a:extLst>
          </p:cNvPr>
          <p:cNvSpPr txBox="1"/>
          <p:nvPr/>
        </p:nvSpPr>
        <p:spPr>
          <a:xfrm>
            <a:off x="634365" y="475488"/>
            <a:ext cx="10652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For each book authored by "Stephen King", retrieve the title and the number of copies owned by the library branch whose name is "Central".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" y="72517"/>
            <a:ext cx="12051792" cy="1325563"/>
          </a:xfrm>
        </p:spPr>
        <p:txBody>
          <a:bodyPr/>
          <a:lstStyle/>
          <a:p>
            <a:pPr algn="ctr"/>
            <a:r>
              <a:rPr lang="en-US" altLang="en-I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&amp; </a:t>
            </a:r>
            <a:r>
              <a:rPr lang="en-US" altLang="en-I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ecommendations</a:t>
            </a:r>
            <a:endParaRPr lang="en-IN" altLang="en-US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Add online book reservation so members can book books from home.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Add automatic fine calculation when books are returned late.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Send reminders or messages to members about due dates.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Show reports of which books are most borrowed to help buy more copies.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Create a mobile app or website for easy access to library services.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539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41577"/>
            <a:ext cx="10344912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The system helps the library keep records of books, authors, and publishers.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It makes it easy to know how many copies of a book are available in each branch.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It stores details of borrowers and tracks who has taken which book.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It helps the library manage issue dates and return dates properly.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It reduces manual work and saves time for library staff.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It makes library services faster and more helpful for members.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B95A-F3EC-39F2-4665-41DA43DE1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58585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and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D666B-E015-BC99-963B-B4E671D52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768096"/>
            <a:ext cx="10515600" cy="549021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importing CSV files, I made a mistake by not properly verifying the column names, which resulted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database.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➜ I resolved it by carefully checking and correcting the column names before re-importing the data.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faced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while joining multiple tables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 queries.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➜ I overcame this challenge through continuous learning and practice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 concepts, which improved my understanding of relational databases.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helped me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hands-on experience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creating databases, linking tables, and performing data analysis using SQL.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19483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855</Words>
  <Application>Microsoft Office PowerPoint</Application>
  <PresentationFormat>Widescreen</PresentationFormat>
  <Paragraphs>66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Libre Baskerville</vt:lpstr>
      <vt:lpstr>Wingdings</vt:lpstr>
      <vt:lpstr>Lato Black</vt:lpstr>
      <vt:lpstr>Times New Roman</vt:lpstr>
      <vt:lpstr>Arial</vt:lpstr>
      <vt:lpstr>Office Theme</vt:lpstr>
      <vt:lpstr>PowerPoint Presentation</vt:lpstr>
      <vt:lpstr>PowerPoint Presentation</vt:lpstr>
      <vt:lpstr>Agenda   </vt:lpstr>
      <vt:lpstr>Objective of the Project</vt:lpstr>
      <vt:lpstr>ER Diagram</vt:lpstr>
      <vt:lpstr>Schema Explanation</vt:lpstr>
      <vt:lpstr>Key Analysis Questions</vt:lpstr>
      <vt:lpstr>SQL Query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Final Business Insights &amp; Recommendations</vt:lpstr>
      <vt:lpstr>Conclusion</vt:lpstr>
      <vt:lpstr>Experiences and 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sushma sri</cp:lastModifiedBy>
  <cp:revision>13</cp:revision>
  <dcterms:created xsi:type="dcterms:W3CDTF">2025-09-11T10:15:00Z</dcterms:created>
  <dcterms:modified xsi:type="dcterms:W3CDTF">2025-10-28T10:11:31Z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5713C5C63B484E229D5547CADAB17458_12</vt:lpwstr>
  </property>
  <property fmtid="{D5CDD505-2E9C-101B-9397-08002B2CF9AE}" pid="3" name="KSOProductBuildVer">
    <vt:lpwstr>1033-12.2.0.22549</vt:lpwstr>
  </property>
</Properties>
</file>